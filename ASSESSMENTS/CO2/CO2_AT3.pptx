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3"/>
    <p:sldId id="258" r:id="rId4"/>
    <p:sldId id="259" r:id="rId5"/>
    <p:sldId id="279" r:id="rId6"/>
    <p:sldId id="260" r:id="rId7"/>
    <p:sldId id="280" r:id="rId9"/>
    <p:sldId id="261" r:id="rId10"/>
    <p:sldId id="268" r:id="rId11"/>
    <p:sldId id="269" r:id="rId12"/>
    <p:sldId id="27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1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5910" y="326390"/>
            <a:ext cx="11630660" cy="1877060"/>
            <a:chOff x="295910" y="326390"/>
            <a:chExt cx="11630660" cy="1877060"/>
          </a:xfrm>
        </p:grpSpPr>
        <p:sp>
          <p:nvSpPr>
            <p:cNvPr id="3" name="object 3"/>
            <p:cNvSpPr/>
            <p:nvPr/>
          </p:nvSpPr>
          <p:spPr>
            <a:xfrm>
              <a:off x="314960" y="345440"/>
              <a:ext cx="11592560" cy="1838960"/>
            </a:xfrm>
            <a:custGeom>
              <a:avLst/>
              <a:gdLst/>
              <a:ahLst/>
              <a:cxnLst/>
              <a:rect l="l" t="t" r="r" b="b"/>
              <a:pathLst>
                <a:path w="11592560" h="1838960">
                  <a:moveTo>
                    <a:pt x="0" y="0"/>
                  </a:moveTo>
                  <a:lnTo>
                    <a:pt x="11592560" y="0"/>
                  </a:lnTo>
                  <a:lnTo>
                    <a:pt x="11592560" y="1838960"/>
                  </a:lnTo>
                  <a:lnTo>
                    <a:pt x="0" y="183896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0309" y="507709"/>
              <a:ext cx="10972800" cy="118103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06550" y="3166110"/>
            <a:ext cx="5265420" cy="35153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7620" rIns="0" bIns="0" rtlCol="0">
            <a:noAutofit/>
          </a:bodyPr>
          <a:lstStyle/>
          <a:p>
            <a:pPr marL="82550">
              <a:lnSpc>
                <a:spcPct val="20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1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Galla Sai Siddartha (192425093)</a:t>
            </a:r>
            <a:endParaRPr lang="en-IN" altLang="en-US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20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Charan Tej</a:t>
            </a: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(192424167)</a:t>
            </a:r>
            <a:endParaRPr lang="en-IN" altLang="en-US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20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ITA0329</a:t>
            </a:r>
            <a:endParaRPr lang="en-US" altLang="en-US" sz="1900"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20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MOBILE COMPUTING</a:t>
            </a:r>
            <a:endParaRPr 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20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Saravanan.M.S</a:t>
            </a:r>
            <a:endParaRPr lang="en-US" alt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20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             : </a:t>
            </a:r>
            <a:r>
              <a:rPr lang="en-US" alt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7/10/2026</a:t>
            </a:r>
            <a:endParaRPr lang="en-IN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06550" y="2449195"/>
            <a:ext cx="9224645" cy="4533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675380" marR="5080" indent="-3663315" algn="l">
              <a:lnSpc>
                <a:spcPts val="3200"/>
              </a:lnSpc>
              <a:spcBef>
                <a:spcPts val="340"/>
              </a:spcBef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Ad Hoc Network Visualizer &amp; Emergency Messaging App</a:t>
            </a:r>
            <a:endParaRPr lang="en-US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0"/>
          <p:cNvSpPr/>
          <p:nvPr/>
        </p:nvSpPr>
        <p:spPr>
          <a:xfrm>
            <a:off x="9034780" y="4315460"/>
            <a:ext cx="1097280" cy="1097280"/>
          </a:xfrm>
          <a:prstGeom prst="ellipse">
            <a:avLst/>
          </a:prstGeom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8577580" y="3858260"/>
            <a:ext cx="2011680" cy="2011680"/>
          </a:xfrm>
          <a:prstGeom prst="ellipse">
            <a:avLst/>
          </a:prstGeom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>
            <a:off x="8211820" y="3492500"/>
            <a:ext cx="2743200" cy="2743200"/>
          </a:xfrm>
          <a:prstGeom prst="ellipse">
            <a:avLst/>
          </a:prstGeom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 flipV="1">
            <a:off x="9583420" y="4818380"/>
            <a:ext cx="548640" cy="457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 flipH="1">
            <a:off x="9126220" y="4864100"/>
            <a:ext cx="457200" cy="8229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 flipV="1">
            <a:off x="9583420" y="3858260"/>
            <a:ext cx="137160" cy="10058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0132060" y="4818380"/>
            <a:ext cx="457200" cy="5486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 flipH="1" flipV="1">
            <a:off x="8669020" y="4178300"/>
            <a:ext cx="914400" cy="6858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9720580" y="3858260"/>
            <a:ext cx="640080" cy="1371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 flipV="1">
            <a:off x="10132060" y="3995420"/>
            <a:ext cx="228600" cy="8229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9455404" y="473608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10049764" y="473608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9043924" y="560476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9638284" y="377596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0506964" y="528472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8586724" y="409600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0278364" y="391312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1880" y="1705610"/>
            <a:ext cx="5561330" cy="44958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1" y="624205"/>
            <a:ext cx="10972799" cy="894080"/>
          </a:xfrm>
          <a:prstGeom prst="rect">
            <a:avLst/>
          </a:prstGeom>
        </p:spPr>
        <p:txBody>
          <a:bodyPr vert="horz" wrap="square" lIns="0" tIns="217566" rIns="0" bIns="0" rtlCol="0">
            <a:sp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IN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265" y="2117090"/>
            <a:ext cx="5706745" cy="3996055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wireless ad hoc network connects devices directly, with no central access point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Devices communicate through nearby peers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Multi-hop routing carries messages beyond the range of a single connection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Emergency messaging supports communication during outages and disasters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Android app visualizes connectivity and message delivery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1751493938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8565" y="1790700"/>
            <a:ext cx="5057775" cy="4383405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25604"/>
            <a:ext cx="10896600" cy="894080"/>
          </a:xfrm>
          <a:prstGeom prst="rect">
            <a:avLst/>
          </a:prstGeom>
        </p:spPr>
        <p:txBody>
          <a:bodyPr vert="horz" wrap="square" lIns="0" tIns="217566" rIns="0" bIns="0" rtlCol="0">
            <a:spAutoFit/>
          </a:bodyPr>
          <a:lstStyle/>
          <a:p>
            <a:pPr marL="2513965" algn="l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b="1" spc="-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1000" y="1807210"/>
            <a:ext cx="583501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Conventional messaging depends on available infrastructure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Network outages can interrupt emergency communication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Limited wireless range restricts direct device-to-device messaging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Device movement can break communication paths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lightweight system is needed to visualize connectivity and support multi-hop emergency messaging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sp>
        <p:nvSpPr>
          <p:cNvPr id="4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8565" y="1790700"/>
            <a:ext cx="5057775" cy="4383405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25604"/>
            <a:ext cx="10896600" cy="894080"/>
          </a:xfrm>
          <a:prstGeom prst="rect">
            <a:avLst/>
          </a:prstGeom>
        </p:spPr>
        <p:txBody>
          <a:bodyPr vert="horz" wrap="square" lIns="0" tIns="217566" rIns="0" bIns="0" rtlCol="0">
            <a:spAutoFit/>
          </a:bodyPr>
          <a:lstStyle/>
          <a:p>
            <a:pPr marL="2513965" algn="l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b="1" spc="-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1000" y="1807210"/>
            <a:ext cx="583501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Conventional messaging depends on available infrastructure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Network outages can interrupt emergency communication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Limited wireless range restricts direct device-to-device messaging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Device movement can break communication paths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lightweight system is needed to visualize connectivity and support multi-hop emergency messaging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sp>
        <p:nvSpPr>
          <p:cNvPr id="4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832485"/>
            <a:ext cx="6731635" cy="85407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301115" algn="l"/>
              </a:tabLst>
            </a:pPr>
            <a:r>
              <a:rPr lang="en-US"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OBJECTIVE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5" y="1868170"/>
            <a:ext cx="11246485" cy="4523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25604"/>
            <a:ext cx="10896600" cy="894080"/>
          </a:xfrm>
          <a:prstGeom prst="rect">
            <a:avLst/>
          </a:prstGeom>
        </p:spPr>
        <p:txBody>
          <a:bodyPr vert="horz" wrap="square" lIns="0" tIns="217566" rIns="0" bIns="0" rtlCol="0">
            <a:spAutoFit/>
          </a:bodyPr>
          <a:lstStyle/>
          <a:p>
            <a:pPr marL="2513965" algn="l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POSED</a:t>
            </a:r>
            <a:r>
              <a:rPr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</a:t>
            </a:r>
            <a:endParaRPr lang="en-IN" b="1" spc="-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sp>
        <p:nvSpPr>
          <p:cNvPr id="4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" name="Group 34"/>
          <p:cNvGrpSpPr/>
          <p:nvPr/>
        </p:nvGrpSpPr>
        <p:grpSpPr>
          <a:xfrm>
            <a:off x="851535" y="1966595"/>
            <a:ext cx="10329545" cy="3931285"/>
            <a:chOff x="720" y="1872"/>
            <a:chExt cx="12960" cy="4824"/>
          </a:xfrm>
        </p:grpSpPr>
        <p:sp>
          <p:nvSpPr>
            <p:cNvPr id="36" name="Text 1"/>
            <p:cNvSpPr txBox="1"/>
            <p:nvPr/>
          </p:nvSpPr>
          <p:spPr>
            <a:xfrm>
              <a:off x="720" y="1872"/>
              <a:ext cx="2880" cy="2016"/>
            </a:xfrm>
            <a:prstGeom prst="roundRect">
              <a:avLst>
                <a:gd name="adj" fmla="val 8571"/>
              </a:avLst>
            </a:prstGeom>
            <a:solidFill>
              <a:schemeClr val="bg1"/>
            </a:solidFill>
            <a:ln w="15875">
              <a:solidFill>
                <a:schemeClr val="accent3"/>
              </a:solidFill>
            </a:ln>
            <a:effectLst>
              <a:outerShdw blurRad="101600" dist="25400" dir="5400000" algn="bl" rotWithShape="0">
                <a:srgbClr val="0B1F3A">
                  <a:alpha val="14000"/>
                </a:srgbClr>
              </a:outerShdw>
            </a:effectLst>
          </p:spPr>
          <p:txBody>
            <a:bodyPr wrap="square" lIns="114300" tIns="114300" rIns="114300" bIns="114300" rtlCol="0" anchor="ctr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Android Application</a:t>
              </a: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l">
                <a:buNone/>
              </a:pPr>
              <a:r>
                <a:rPr lang="en-US" sz="1500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Messaging UI and network visualization</a:t>
              </a: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2"/>
            <p:cNvSpPr txBox="1"/>
            <p:nvPr/>
          </p:nvSpPr>
          <p:spPr>
            <a:xfrm>
              <a:off x="4075" y="1872"/>
              <a:ext cx="2880" cy="2016"/>
            </a:xfrm>
            <a:prstGeom prst="roundRect">
              <a:avLst>
                <a:gd name="adj" fmla="val 8571"/>
              </a:avLst>
            </a:prstGeom>
            <a:solidFill>
              <a:schemeClr val="bg1"/>
            </a:solidFill>
            <a:ln w="15875">
              <a:solidFill>
                <a:schemeClr val="accent3"/>
              </a:solidFill>
            </a:ln>
            <a:effectLst>
              <a:outerShdw blurRad="101600" dist="25400" dir="5400000" algn="bl" rotWithShape="0">
                <a:srgbClr val="0B1F3A">
                  <a:alpha val="14000"/>
                </a:srgbClr>
              </a:outerShdw>
            </a:effectLst>
          </p:spPr>
          <p:txBody>
            <a:bodyPr wrap="square" lIns="114300" tIns="114300" rIns="114300" bIns="114300" rtlCol="0" anchor="ctr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Peer Discovery</a:t>
              </a: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l">
                <a:buNone/>
              </a:pPr>
              <a:r>
                <a:rPr lang="en-US" sz="1500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 P2P and Nearby Connections APIs</a:t>
              </a: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 3"/>
            <p:cNvSpPr txBox="1"/>
            <p:nvPr/>
          </p:nvSpPr>
          <p:spPr>
            <a:xfrm>
              <a:off x="7430" y="1872"/>
              <a:ext cx="2880" cy="2016"/>
            </a:xfrm>
            <a:prstGeom prst="roundRect">
              <a:avLst>
                <a:gd name="adj" fmla="val 8571"/>
              </a:avLst>
            </a:prstGeom>
            <a:solidFill>
              <a:schemeClr val="tx1"/>
            </a:solidFill>
            <a:ln w="15875">
              <a:solidFill>
                <a:schemeClr val="tx1"/>
              </a:solidFill>
            </a:ln>
            <a:effectLst>
              <a:outerShdw blurRad="101600" dist="25400" dir="5400000" algn="bl" rotWithShape="0">
                <a:srgbClr val="0B1F3A">
                  <a:alpha val="14000"/>
                </a:srgbClr>
              </a:outerShdw>
            </a:effectLst>
          </p:spPr>
          <p:txBody>
            <a:bodyPr wrap="square" lIns="114300" tIns="114300" rIns="114300" bIns="114300" rtlCol="0" anchor="ctr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5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Routing Layer</a:t>
              </a: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l">
                <a:buNone/>
              </a:pPr>
              <a:r>
                <a:rPr lang="en-US" sz="1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Selects forwarding paths and manages TTL</a:t>
              </a: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4"/>
            <p:cNvSpPr txBox="1"/>
            <p:nvPr/>
          </p:nvSpPr>
          <p:spPr>
            <a:xfrm>
              <a:off x="10800" y="1872"/>
              <a:ext cx="2880" cy="2016"/>
            </a:xfrm>
            <a:prstGeom prst="roundRect">
              <a:avLst>
                <a:gd name="adj" fmla="val 8571"/>
              </a:avLst>
            </a:prstGeom>
            <a:solidFill>
              <a:schemeClr val="bg1"/>
            </a:solidFill>
            <a:ln w="15875">
              <a:solidFill>
                <a:schemeClr val="accent3"/>
              </a:solidFill>
            </a:ln>
            <a:effectLst>
              <a:outerShdw blurRad="101600" dist="25400" dir="5400000" algn="bl" rotWithShape="0">
                <a:srgbClr val="0B1F3A">
                  <a:alpha val="14000"/>
                </a:srgbClr>
              </a:outerShdw>
            </a:effectLst>
          </p:spPr>
          <p:txBody>
            <a:bodyPr wrap="square" lIns="114300" tIns="114300" rIns="114300" bIns="114300" rtlCol="0" anchor="ctr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Connected Devices</a:t>
              </a: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l">
                <a:buNone/>
              </a:pPr>
              <a:r>
                <a:rPr lang="en-US" sz="1500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Nearby peers over supported link</a:t>
              </a:r>
              <a:r>
                <a:rPr lang="en-US" sz="1100" dirty="0">
                  <a:solidFill>
                    <a:schemeClr val="accent5"/>
                  </a:solidFill>
                </a:rPr>
                <a:t>s</a:t>
              </a:r>
              <a:endParaRPr lang="en-US" sz="1300" dirty="0"/>
            </a:p>
          </p:txBody>
        </p:sp>
        <p:sp>
          <p:nvSpPr>
            <p:cNvPr id="40" name="Shape 5"/>
            <p:cNvSpPr/>
            <p:nvPr/>
          </p:nvSpPr>
          <p:spPr>
            <a:xfrm>
              <a:off x="3629" y="2880"/>
              <a:ext cx="418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prstDash val="solid"/>
              <a:tailEnd type="triangle"/>
            </a:ln>
          </p:spPr>
        </p:sp>
        <p:sp>
          <p:nvSpPr>
            <p:cNvPr id="41" name="Shape 6"/>
            <p:cNvSpPr/>
            <p:nvPr/>
          </p:nvSpPr>
          <p:spPr>
            <a:xfrm>
              <a:off x="6984" y="2880"/>
              <a:ext cx="418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prstDash val="solid"/>
              <a:tailEnd type="triangle"/>
            </a:ln>
          </p:spPr>
        </p:sp>
        <p:sp>
          <p:nvSpPr>
            <p:cNvPr id="42" name="Shape 7"/>
            <p:cNvSpPr/>
            <p:nvPr/>
          </p:nvSpPr>
          <p:spPr>
            <a:xfrm>
              <a:off x="10339" y="2880"/>
              <a:ext cx="43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prstDash val="solid"/>
              <a:tailEnd type="triangle"/>
            </a:ln>
          </p:spPr>
        </p:sp>
        <p:sp>
          <p:nvSpPr>
            <p:cNvPr id="43" name="Text 8"/>
            <p:cNvSpPr txBox="1"/>
            <p:nvPr/>
          </p:nvSpPr>
          <p:spPr>
            <a:xfrm>
              <a:off x="7430" y="5040"/>
              <a:ext cx="2880" cy="1656"/>
            </a:xfrm>
            <a:prstGeom prst="roundRect">
              <a:avLst>
                <a:gd name="adj" fmla="val 10435"/>
              </a:avLst>
            </a:prstGeom>
            <a:solidFill>
              <a:schemeClr val="bg2"/>
            </a:solidFill>
            <a:ln w="12700">
              <a:solidFill>
                <a:schemeClr val="accent3"/>
              </a:solidFill>
            </a:ln>
          </p:spPr>
          <p:txBody>
            <a:bodyPr wrap="square" lIns="114300" tIns="114300" rIns="114300" bIns="114300" rtlCol="0" anchor="ctr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Room Database</a:t>
              </a: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l">
                <a:buNone/>
              </a:pPr>
              <a:r>
                <a:rPr lang="en-US" sz="1500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Stores messages awaiting delivery</a:t>
              </a: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 9"/>
            <p:cNvSpPr txBox="1"/>
            <p:nvPr/>
          </p:nvSpPr>
          <p:spPr>
            <a:xfrm>
              <a:off x="10800" y="5040"/>
              <a:ext cx="2880" cy="1656"/>
            </a:xfrm>
            <a:prstGeom prst="roundRect">
              <a:avLst>
                <a:gd name="adj" fmla="val 10435"/>
              </a:avLst>
            </a:prstGeom>
            <a:solidFill>
              <a:schemeClr val="bg2"/>
            </a:solidFill>
            <a:ln w="12700">
              <a:solidFill>
                <a:schemeClr val="accent3"/>
              </a:solidFill>
            </a:ln>
          </p:spPr>
          <p:txBody>
            <a:bodyPr wrap="square" lIns="114300" tIns="114300" rIns="114300" bIns="114300" rtlCol="0" anchor="ctr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Analytics Dashboard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l">
                <a:buNone/>
              </a:pPr>
              <a:r>
                <a:rPr lang="en-US" sz="1600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Delivery rate, hop count, battery, network status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Shape 10"/>
            <p:cNvSpPr/>
            <p:nvPr/>
          </p:nvSpPr>
          <p:spPr>
            <a:xfrm>
              <a:off x="8870" y="3917"/>
              <a:ext cx="0" cy="1094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prstDash val="solid"/>
              <a:headEnd type="triangle"/>
              <a:tailEnd type="triangle"/>
            </a:ln>
          </p:spPr>
        </p:sp>
        <p:sp>
          <p:nvSpPr>
            <p:cNvPr id="46" name="Shape 11"/>
            <p:cNvSpPr/>
            <p:nvPr/>
          </p:nvSpPr>
          <p:spPr>
            <a:xfrm>
              <a:off x="12240" y="3917"/>
              <a:ext cx="0" cy="1094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prstDash val="solid"/>
              <a:tailEnd type="triangle"/>
            </a:ln>
          </p:spPr>
        </p:sp>
        <p:sp>
          <p:nvSpPr>
            <p:cNvPr id="47" name="Text 12"/>
            <p:cNvSpPr txBox="1"/>
            <p:nvPr/>
          </p:nvSpPr>
          <p:spPr>
            <a:xfrm>
              <a:off x="5760" y="4248"/>
              <a:ext cx="295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i="1" dirty="0">
                  <a:solidFill>
                    <a:schemeClr val="accent5"/>
                  </a:solidFill>
                </a:rPr>
                <a:t>message handling</a:t>
              </a:r>
              <a:endParaRPr lang="en-US" sz="1000" dirty="0"/>
            </a:p>
          </p:txBody>
        </p:sp>
        <p:sp>
          <p:nvSpPr>
            <p:cNvPr id="48" name="Text 13"/>
            <p:cNvSpPr txBox="1"/>
            <p:nvPr/>
          </p:nvSpPr>
          <p:spPr>
            <a:xfrm>
              <a:off x="9072" y="4248"/>
              <a:ext cx="3024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i="1" dirty="0">
                  <a:solidFill>
                    <a:schemeClr val="accent5"/>
                  </a:solidFill>
                </a:rPr>
                <a:t>network monitoring</a:t>
              </a:r>
              <a:endParaRPr lang="en-US" sz="1000" dirty="0"/>
            </a:p>
          </p:txBody>
        </p:sp>
        <p:sp>
          <p:nvSpPr>
            <p:cNvPr id="49" name="Text 14"/>
            <p:cNvSpPr txBox="1"/>
            <p:nvPr/>
          </p:nvSpPr>
          <p:spPr>
            <a:xfrm>
              <a:off x="720" y="5040"/>
              <a:ext cx="6192" cy="1656"/>
            </a:xfrm>
            <a:prstGeom prst="roundRect">
              <a:avLst>
                <a:gd name="adj" fmla="val 10435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txBody>
            <a:bodyPr wrap="square" lIns="114300" tIns="114300" rIns="114300" bIns="114300" rtlCol="0" anchor="ctr"/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 Direct and Nearby Connections are alternative or complementary link mechanisms. Multi-hop routing is implemented at the application layer; Android does not route messages across arbitrary peers.</a:t>
              </a: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ndroid Emergency Messaging Archite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40" y="1056640"/>
            <a:ext cx="10652125" cy="520255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4005" y="285115"/>
            <a:ext cx="11687175" cy="771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US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12475" y="385445"/>
            <a:ext cx="891540" cy="671195"/>
          </a:xfrm>
          <a:prstGeom prst="rect">
            <a:avLst/>
          </a:prstGeom>
          <a:noFill/>
        </p:spPr>
      </p:pic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385445"/>
            <a:ext cx="1114425" cy="582295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285115"/>
            <a:ext cx="11582400" cy="615696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0" y="1968500"/>
            <a:ext cx="5008880" cy="4331970"/>
          </a:xfrm>
          <a:prstGeom prst="rect">
            <a:avLst/>
          </a:prstGeom>
        </p:spPr>
      </p:pic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Text Box 4"/>
          <p:cNvSpPr txBox="1"/>
          <p:nvPr/>
        </p:nvSpPr>
        <p:spPr>
          <a:xfrm>
            <a:off x="1767205" y="757555"/>
            <a:ext cx="9137015" cy="1349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1 : 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Peer Discovery &amp; Visualization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4000" b="1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altLang="en-US" sz="44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685800"/>
            <a:ext cx="1136015" cy="1158875"/>
          </a:xfrm>
          <a:prstGeom prst="rect">
            <a:avLst/>
          </a:prstGeom>
          <a:noFill/>
        </p:spPr>
      </p:pic>
      <p:pic>
        <p:nvPicPr>
          <p:cNvPr id="7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685800"/>
            <a:ext cx="1310005" cy="1158875"/>
          </a:xfrm>
          <a:prstGeom prst="rect">
            <a:avLst/>
          </a:prstGeom>
          <a:noFill/>
        </p:spPr>
      </p:pic>
      <p:sp>
        <p:nvSpPr>
          <p:cNvPr id="8" name="Text Box 7"/>
          <p:cNvSpPr txBox="1"/>
          <p:nvPr/>
        </p:nvSpPr>
        <p:spPr>
          <a:xfrm>
            <a:off x="457200" y="2026285"/>
            <a:ext cx="6286500" cy="5064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Discover nearby devices via Wi-Fi P2P or Nearby Connections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Establish and monitor supported peer connections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Nodes represent devices; edges represent wireless links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Update the graph when devices connect or disconnect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Display configurable node count, connection range, battery level, and topology changes</a:t>
            </a:r>
            <a:endParaRPr lang="en-US" altLang="en-US" sz="23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385" y="1844675"/>
            <a:ext cx="11167110" cy="215328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1771015" y="370840"/>
            <a:ext cx="8972550" cy="1276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</a:t>
            </a:r>
            <a:r>
              <a:rPr lang="en-US" alt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:</a:t>
            </a:r>
            <a:r>
              <a:rPr lang="en-US" altLang="en-US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Multi-Hop Emergency Messaging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altLang="en-US" sz="44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685800"/>
            <a:ext cx="1136015" cy="1158875"/>
          </a:xfrm>
          <a:prstGeom prst="rect">
            <a:avLst/>
          </a:prstGeom>
          <a:noFill/>
        </p:spPr>
      </p:pic>
      <p:pic>
        <p:nvPicPr>
          <p:cNvPr id="18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685800"/>
            <a:ext cx="1310005" cy="1158875"/>
          </a:xfrm>
          <a:prstGeom prst="rect">
            <a:avLst/>
          </a:prstGeom>
          <a:noFill/>
        </p:spPr>
      </p:pic>
      <p:sp>
        <p:nvSpPr>
          <p:cNvPr id="19" name="Text Box 18"/>
          <p:cNvSpPr txBox="1"/>
          <p:nvPr/>
        </p:nvSpPr>
        <p:spPr>
          <a:xfrm>
            <a:off x="457200" y="3997325"/>
            <a:ext cx="6390640" cy="1842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Create emergency messages and send to connected peers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Relay through a custom routing layer; TTL limits propagation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Message IDs enable duplicate detection and stop repeat forwarding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object 2"/>
          <p:cNvSpPr/>
          <p:nvPr/>
        </p:nvSpPr>
        <p:spPr>
          <a:xfrm>
            <a:off x="304800" y="371475"/>
            <a:ext cx="1164844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Text Box 28"/>
          <p:cNvSpPr txBox="1"/>
          <p:nvPr/>
        </p:nvSpPr>
        <p:spPr>
          <a:xfrm>
            <a:off x="6597015" y="3997325"/>
            <a:ext cx="5142865" cy="26289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7800" indent="-177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Undelivered messages are stored in Room and retried on reconnection, if the app is permitted to run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Evaluate delivery rate, hop count, delay, network lifetime, and battery use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6990" y="1790700"/>
            <a:ext cx="3686175" cy="4523740"/>
          </a:xfrm>
          <a:prstGeom prst="rect">
            <a:avLst/>
          </a:prstGeom>
        </p:spPr>
      </p:pic>
      <p:sp>
        <p:nvSpPr>
          <p:cNvPr id="5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Text Box 5"/>
          <p:cNvSpPr txBox="1"/>
          <p:nvPr/>
        </p:nvSpPr>
        <p:spPr>
          <a:xfrm>
            <a:off x="2667000" y="706120"/>
            <a:ext cx="6096000" cy="704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ONCLUSION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33400" y="1790065"/>
            <a:ext cx="6858000" cy="4771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7800" indent="-177800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Infrastructure-independent communication between supported nearby Android devices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Combines discovery, visualization, multi-hop forwarding, and local storage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 measurable metrics for network reliability and resource usage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77800" indent="-177800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SzPct val="10000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Enables emergency communication between nearby Android devices without relying on network infrastructure.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9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280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77925" y="1219200"/>
            <a:ext cx="9836150" cy="4485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2942</Words>
  <Application>WPS Presentation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Times New Roman</vt:lpstr>
      <vt:lpstr>Calibri</vt:lpstr>
      <vt:lpstr>Microsoft YaHei</vt:lpstr>
      <vt:lpstr>Arial Unicode MS</vt:lpstr>
      <vt:lpstr>Calibri Light</vt:lpstr>
      <vt:lpstr>Office Theme</vt:lpstr>
      <vt:lpstr>AI-Based Food Donation and Redistribution Platform Using NLP</vt:lpstr>
      <vt:lpstr>  INTRODUCTION </vt:lpstr>
      <vt:lpstr>PROBLEM STATEMENT</vt:lpstr>
      <vt:lpstr>PROBLEM STATEMENT</vt:lpstr>
      <vt:lpstr>    OBJECTIVE</vt:lpstr>
      <vt:lpstr>PROBLEM STATEMENT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Siddartha Galla</cp:lastModifiedBy>
  <cp:revision>44</cp:revision>
  <dcterms:created xsi:type="dcterms:W3CDTF">2025-07-23T00:59:00Z</dcterms:created>
  <dcterms:modified xsi:type="dcterms:W3CDTF">2026-10-26T13:51:44Z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C70FB3740DB348A29293A59686D4502D_13</vt:lpwstr>
  </property>
  <property fmtid="{D5CDD505-2E9C-101B-9397-08002B2CF9AE}" pid="3" name="KSOProductBuildVer">
    <vt:lpwstr>1033-12.1.0.29162</vt:lpwstr>
  </property>
</Properties>
</file>